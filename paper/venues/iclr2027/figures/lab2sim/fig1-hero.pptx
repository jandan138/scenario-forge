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9050000" cy="6858000"/>
  <p:notesSz cx="6858000" cy="1905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{"spec":"lab2sim-hero.figure-spec.json","mode":"inspired","canonical":"SVG","provenance":[{"id":"prov-reference-decisions","source":"fig1-reference-audit.md","section":"Reference-led decisions","claim":"Inspired editorial hierarchy and output-gallery allocation","applies_to":["rule-headers","result-region"],"status":"verified"},{"id":"prov-pipeline","source":"../../../../../docs/design/agent-driven-asset-generation-pipeline.md","section":"Five-stage pipeline","claim":"Evidence retrieval, spec freeze, generation, and ConvertAsset admission","applies_to":["stage-retrieve","stage-spec","stage-build","stage-admit"],"status":"verified"},{"id":"prov-oven-spec","source":"../../../../../docs/design/asset-specs/ika-oven-125.md","section":"Frozen manufacturer fields","claim":"OVEN 125 identity, door articulation, and shelf count","applies_to":["spec-body"],"status":"verified"},{"id":"prov-input-photo","source":"../../../../../external_artifacts/asset_evidence/ika-oven-125/image1.png","section":"Multimodal image request","claim":"Manufacturer photograph of IKA OVEN 125","applies_to":["input-catalog-photo"],"status":"user-provided"},{"id":"prov-search-evidence","source":"../../../../../external_artifacts/asset_evidence/ika-oven-125/image2.png","section":"Search step manufacturer evidence","claim":"Open-door catalog photograph supporting the door articulation and shelf-count fields","applies_to":["search-evidence-image"],"status":"user-provided"},{"id":"prov-build-usd","source":"../../../../../outputs/lab2sim_fig3_retake_20260917/oven_r2/hero_open_threequarter.png","section":"Build step articulated USD","claim":"Camera-only retake of the admitted OVEN r2 USD scene, matched to the catalog viewpoint","applies_to":["build-usd-image"],"status":"verified"},{"id":"prov-fehling-r10","source":"../../../../../outputs/lab2sim_fig1_retake_20260917/fehling_r10/t30_hero_tabletop.png","section":"Figure 1 current-delivery scenes","claim":"Camera-only render of the Fehling r10 retained t30 scene state","applies_to":["scene-fehling"],"status":"verified"},{"id":"prov-powder-r4","source":"../../../../../outputs/task09_powder_bottle_r4_20260911/video/close_0960.png","section":"Figure 1 current-delivery scenes","claim":"Powder r4 observed-state replay with the HUD removed by a documented crop","applies_to":["scene-powder"],"status":"verified"},{"id":"prov-titration-r17","source":"../../../../../outputs/scientific_workbench_traditional_acid_base_titration_vr_r1_7_20260908/handoff/scientific_workbench_traditional_acid_base_titration_vr_r1_7/evidence/initial_scene/after_end_scale_scene_overview.png","section":"Figure 1 current-delivery scenes","claim":"Titration r1.7 endpoint scene overview","applies_to":["scene-titration"],"status":"verified"},{"id":"prov-oven-r2","source":"../../../../../outputs/scientific_workbench_task12_oven_unload_dual_glassware_vr_r2_20260904/handoff/scientific_workbench_task12_oven_unload_dual_glassware_vr_r2/evidence/initial_scene/open_oven_station.png","section":"Figure 1 current-delivery scenes","claim":"OVEN r2 open-door station with dual glassware","applies_to":["scene-oven"],"status":"verified"}],"limitations":"PptxGenJS uses editable native panels, text, and segmented connectors; rounded SVG connector geometry may differ from the canonical SVG."}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put-to-retrieve-segment-1"/>
          <p:cNvSpPr/>
          <p:nvPr/>
        </p:nvSpPr>
        <p:spPr>
          <a:xfrm>
            <a:off x="2743200" y="4000500"/>
            <a:ext cx="209550" cy="0"/>
          </a:xfrm>
          <a:prstGeom prst="line">
            <a:avLst/>
          </a:prstGeom>
          <a:noFill/>
          <a:ln w="38100">
            <a:solidFill>
              <a:srgbClr val="3F4855"/>
            </a:solidFill>
            <a:prstDash val="solid"/>
            <a:headEnd type="none"/>
            <a:tailEnd type="triangle"/>
          </a:ln>
        </p:spPr>
      </p:sp>
      <p:sp>
        <p:nvSpPr>
          <p:cNvPr id="3" name="admit-to-results-segment-1"/>
          <p:cNvSpPr/>
          <p:nvPr/>
        </p:nvSpPr>
        <p:spPr>
          <a:xfrm>
            <a:off x="11106150" y="4000500"/>
            <a:ext cx="190500" cy="0"/>
          </a:xfrm>
          <a:prstGeom prst="line">
            <a:avLst/>
          </a:prstGeom>
          <a:noFill/>
          <a:ln w="38100">
            <a:solidFill>
              <a:srgbClr val="3F4855"/>
            </a:solidFill>
            <a:prstDash val="solid"/>
            <a:headEnd type="none"/>
            <a:tailEnd type="triangle"/>
          </a:ln>
        </p:spPr>
      </p:sp>
      <p:sp>
        <p:nvSpPr>
          <p:cNvPr id="4" name="rule-headers"/>
          <p:cNvSpPr/>
          <p:nvPr/>
        </p:nvSpPr>
        <p:spPr>
          <a:xfrm>
            <a:off x="304800" y="952500"/>
            <a:ext cx="18440400" cy="19050"/>
          </a:xfrm>
          <a:prstGeom prst="roundRect">
            <a:avLst/>
          </a:prstGeom>
          <a:solidFill>
            <a:srgbClr val="C5CFDA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5" name="rule-headers-title"/>
          <p:cNvSpPr/>
          <p:nvPr/>
        </p:nvSpPr>
        <p:spPr>
          <a:xfrm>
            <a:off x="476250" y="1028700"/>
            <a:ext cx="1809750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6" name="agent-band"/>
          <p:cNvSpPr/>
          <p:nvPr/>
        </p:nvSpPr>
        <p:spPr>
          <a:xfrm>
            <a:off x="3009900" y="1333500"/>
            <a:ext cx="8039100" cy="51435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7" name="agent-band-title"/>
          <p:cNvSpPr/>
          <p:nvPr/>
        </p:nvSpPr>
        <p:spPr>
          <a:xfrm>
            <a:off x="3181350" y="1409700"/>
            <a:ext cx="769620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8" name="result-region"/>
          <p:cNvSpPr/>
          <p:nvPr/>
        </p:nvSpPr>
        <p:spPr>
          <a:xfrm>
            <a:off x="11334750" y="1143000"/>
            <a:ext cx="7410450" cy="5524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result-region-title"/>
          <p:cNvSpPr/>
          <p:nvPr/>
        </p:nvSpPr>
        <p:spPr>
          <a:xfrm>
            <a:off x="11506200" y="1219200"/>
            <a:ext cx="70675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10" name="stage-retrieve"/>
          <p:cNvSpPr/>
          <p:nvPr/>
        </p:nvSpPr>
        <p:spPr>
          <a:xfrm>
            <a:off x="3929063" y="1828800"/>
            <a:ext cx="381000" cy="381000"/>
          </a:xfrm>
          <a:prstGeom prst="roundRect">
            <a:avLst/>
          </a:prstGeom>
          <a:solidFill>
            <a:srgbClr val="0E7C6B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stage-retrieve-title"/>
          <p:cNvSpPr/>
          <p:nvPr/>
        </p:nvSpPr>
        <p:spPr>
          <a:xfrm>
            <a:off x="4100513" y="1905000"/>
            <a:ext cx="38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2" name="stage-spec"/>
          <p:cNvSpPr/>
          <p:nvPr/>
        </p:nvSpPr>
        <p:spPr>
          <a:xfrm>
            <a:off x="5910263" y="1828800"/>
            <a:ext cx="381000" cy="381000"/>
          </a:xfrm>
          <a:prstGeom prst="roundRect">
            <a:avLst/>
          </a:prstGeom>
          <a:solidFill>
            <a:srgbClr val="0E7C6B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3" name="stage-spec-title"/>
          <p:cNvSpPr/>
          <p:nvPr/>
        </p:nvSpPr>
        <p:spPr>
          <a:xfrm>
            <a:off x="6081713" y="1905000"/>
            <a:ext cx="38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4" name="stage-build"/>
          <p:cNvSpPr/>
          <p:nvPr/>
        </p:nvSpPr>
        <p:spPr>
          <a:xfrm>
            <a:off x="7815263" y="1828800"/>
            <a:ext cx="381000" cy="381000"/>
          </a:xfrm>
          <a:prstGeom prst="roundRect">
            <a:avLst/>
          </a:prstGeom>
          <a:solidFill>
            <a:srgbClr val="0E7C6B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5" name="stage-build-title"/>
          <p:cNvSpPr/>
          <p:nvPr/>
        </p:nvSpPr>
        <p:spPr>
          <a:xfrm>
            <a:off x="7986713" y="1905000"/>
            <a:ext cx="38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stage-admit"/>
          <p:cNvSpPr/>
          <p:nvPr/>
        </p:nvSpPr>
        <p:spPr>
          <a:xfrm>
            <a:off x="9729788" y="1828800"/>
            <a:ext cx="381000" cy="381000"/>
          </a:xfrm>
          <a:prstGeom prst="roundRect">
            <a:avLst/>
          </a:prstGeom>
          <a:solidFill>
            <a:srgbClr val="0E7C6B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7" name="stage-admit-title"/>
          <p:cNvSpPr/>
          <p:nvPr/>
        </p:nvSpPr>
        <p:spPr>
          <a:xfrm>
            <a:off x="9901238" y="1905000"/>
            <a:ext cx="38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search-evidence-card"/>
          <p:cNvSpPr/>
          <p:nvPr/>
        </p:nvSpPr>
        <p:spPr>
          <a:xfrm>
            <a:off x="3309938" y="3190875"/>
            <a:ext cx="1619250" cy="1619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19" name="search-evidence-card-title"/>
          <p:cNvSpPr/>
          <p:nvPr/>
        </p:nvSpPr>
        <p:spPr>
          <a:xfrm>
            <a:off x="3481388" y="3267075"/>
            <a:ext cx="12763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0" name="spec-card"/>
          <p:cNvSpPr/>
          <p:nvPr/>
        </p:nvSpPr>
        <p:spPr>
          <a:xfrm>
            <a:off x="5210175" y="3238500"/>
            <a:ext cx="1781175" cy="1524000"/>
          </a:xfrm>
          <a:prstGeom prst="roundRect">
            <a:avLst/>
          </a:prstGeom>
          <a:solidFill>
            <a:srgbClr val="FFF8EE"/>
          </a:solidFill>
          <a:ln w="28575">
            <a:solidFill>
              <a:srgbClr val="C96A0A"/>
            </a:solidFill>
            <a:prstDash val="solid"/>
          </a:ln>
        </p:spPr>
      </p:sp>
      <p:sp>
        <p:nvSpPr>
          <p:cNvPr id="21" name="spec-card-title"/>
          <p:cNvSpPr/>
          <p:nvPr/>
        </p:nvSpPr>
        <p:spPr>
          <a:xfrm>
            <a:off x="5381625" y="3314700"/>
            <a:ext cx="14382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2" name="build-usd-frame"/>
          <p:cNvSpPr/>
          <p:nvPr/>
        </p:nvSpPr>
        <p:spPr>
          <a:xfrm>
            <a:off x="7224713" y="3319463"/>
            <a:ext cx="1562100" cy="136207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23" name="build-usd-frame-title"/>
          <p:cNvSpPr/>
          <p:nvPr/>
        </p:nvSpPr>
        <p:spPr>
          <a:xfrm>
            <a:off x="7396162" y="3395663"/>
            <a:ext cx="121920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4" name="admit-pass-badge"/>
          <p:cNvSpPr/>
          <p:nvPr/>
        </p:nvSpPr>
        <p:spPr>
          <a:xfrm>
            <a:off x="9348788" y="3790950"/>
            <a:ext cx="1143000" cy="4191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E7C6B"/>
            </a:solidFill>
            <a:prstDash val="solid"/>
          </a:ln>
        </p:spPr>
      </p:sp>
      <p:sp>
        <p:nvSpPr>
          <p:cNvPr id="25" name="admit-pass-badge-title"/>
          <p:cNvSpPr/>
          <p:nvPr/>
        </p:nvSpPr>
        <p:spPr>
          <a:xfrm>
            <a:off x="9520238" y="3867150"/>
            <a:ext cx="80010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6" name="request-photo-frame"/>
          <p:cNvSpPr/>
          <p:nvPr/>
        </p:nvSpPr>
        <p:spPr>
          <a:xfrm>
            <a:off x="304800" y="3162300"/>
            <a:ext cx="2381250" cy="2381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27" name="request-photo-frame-title"/>
          <p:cNvSpPr/>
          <p:nvPr/>
        </p:nvSpPr>
        <p:spPr>
          <a:xfrm>
            <a:off x="476250" y="3238500"/>
            <a:ext cx="20383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28" name="chip-text"/>
          <p:cNvSpPr/>
          <p:nvPr/>
        </p:nvSpPr>
        <p:spPr>
          <a:xfrm>
            <a:off x="304800" y="1333500"/>
            <a:ext cx="23812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29" name="chip-text-title"/>
          <p:cNvSpPr/>
          <p:nvPr/>
        </p:nvSpPr>
        <p:spPr>
          <a:xfrm>
            <a:off x="476250" y="1409700"/>
            <a:ext cx="20383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0" name="chip-image"/>
          <p:cNvSpPr/>
          <p:nvPr/>
        </p:nvSpPr>
        <p:spPr>
          <a:xfrm>
            <a:off x="304800" y="1905000"/>
            <a:ext cx="23812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31" name="chip-image-title"/>
          <p:cNvSpPr/>
          <p:nvPr/>
        </p:nvSpPr>
        <p:spPr>
          <a:xfrm>
            <a:off x="476250" y="1981200"/>
            <a:ext cx="20383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2" name="chip-video"/>
          <p:cNvSpPr/>
          <p:nvPr/>
        </p:nvSpPr>
        <p:spPr>
          <a:xfrm>
            <a:off x="304800" y="2476500"/>
            <a:ext cx="23812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33" name="chip-video-title"/>
          <p:cNvSpPr/>
          <p:nvPr/>
        </p:nvSpPr>
        <p:spPr>
          <a:xfrm>
            <a:off x="476250" y="2552700"/>
            <a:ext cx="2038350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4" name="frame-fehling"/>
          <p:cNvSpPr/>
          <p:nvPr/>
        </p:nvSpPr>
        <p:spPr>
          <a:xfrm>
            <a:off x="11353800" y="1314450"/>
            <a:ext cx="3609975" cy="21717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35" name="frame-fehling-title"/>
          <p:cNvSpPr/>
          <p:nvPr/>
        </p:nvSpPr>
        <p:spPr>
          <a:xfrm>
            <a:off x="11525250" y="1390650"/>
            <a:ext cx="32670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6" name="frame-powder"/>
          <p:cNvSpPr/>
          <p:nvPr/>
        </p:nvSpPr>
        <p:spPr>
          <a:xfrm>
            <a:off x="15154275" y="1314450"/>
            <a:ext cx="3609975" cy="21717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37" name="frame-powder-title"/>
          <p:cNvSpPr/>
          <p:nvPr/>
        </p:nvSpPr>
        <p:spPr>
          <a:xfrm>
            <a:off x="15325725" y="1390650"/>
            <a:ext cx="32670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38" name="frame-titration"/>
          <p:cNvSpPr/>
          <p:nvPr/>
        </p:nvSpPr>
        <p:spPr>
          <a:xfrm>
            <a:off x="11353800" y="3962400"/>
            <a:ext cx="3609975" cy="21717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39" name="frame-titration-title"/>
          <p:cNvSpPr/>
          <p:nvPr/>
        </p:nvSpPr>
        <p:spPr>
          <a:xfrm>
            <a:off x="11525250" y="4038600"/>
            <a:ext cx="32670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sp>
        <p:nvSpPr>
          <p:cNvPr id="40" name="frame-oven"/>
          <p:cNvSpPr/>
          <p:nvPr/>
        </p:nvSpPr>
        <p:spPr>
          <a:xfrm>
            <a:off x="15154275" y="3962400"/>
            <a:ext cx="3609975" cy="21717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CFDA"/>
            </a:solidFill>
            <a:prstDash val="solid"/>
          </a:ln>
        </p:spPr>
      </p:sp>
      <p:sp>
        <p:nvSpPr>
          <p:cNvPr id="41" name="frame-oven-title"/>
          <p:cNvSpPr/>
          <p:nvPr/>
        </p:nvSpPr>
        <p:spPr>
          <a:xfrm>
            <a:off x="15325725" y="4038600"/>
            <a:ext cx="3267075" cy="3562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650" dirty="0"/>
          </a:p>
        </p:txBody>
      </p:sp>
      <p:pic>
        <p:nvPicPr>
          <p:cNvPr id="42" name="input-text-icon" descr="Wet-lab protocol text symbo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300" y="1409700"/>
            <a:ext cx="304800" cy="304800"/>
          </a:xfrm>
          <a:prstGeom prst="rect">
            <a:avLst/>
          </a:prstGeom>
        </p:spPr>
      </p:pic>
      <p:pic>
        <p:nvPicPr>
          <p:cNvPr id="43" name="input-image-icon" descr="Catalog image request symbo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" y="1981200"/>
            <a:ext cx="304800" cy="304800"/>
          </a:xfrm>
          <a:prstGeom prst="rect">
            <a:avLst/>
          </a:prstGeom>
        </p:spPr>
      </p:pic>
      <p:pic>
        <p:nvPicPr>
          <p:cNvPr id="44" name="input-video-icon" descr="Wet-lab demonstration video symbol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" y="2552700"/>
            <a:ext cx="304800" cy="304800"/>
          </a:xfrm>
          <a:prstGeom prst="rect">
            <a:avLst/>
          </a:prstGeom>
        </p:spPr>
      </p:pic>
      <p:pic>
        <p:nvPicPr>
          <p:cNvPr id="45" name="input-catalog-photo" descr="IKA OVEN 125 manufacturer catalog image used as an image reques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850" y="3181350"/>
            <a:ext cx="2343150" cy="2343150"/>
          </a:xfrm>
          <a:prstGeom prst="rect">
            <a:avLst/>
          </a:prstGeom>
        </p:spPr>
      </p:pic>
      <p:pic>
        <p:nvPicPr>
          <p:cNvPr id="46" name="search-evidence-image" descr="IKA OVEN 125 open-door manufacturer catalog photograph retrieved as evidence for the door hinge and shelf cou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5188" y="3286125"/>
            <a:ext cx="1428750" cy="1428750"/>
          </a:xfrm>
          <a:prstGeom prst="rect">
            <a:avLst/>
          </a:prstGeom>
        </p:spPr>
      </p:pic>
      <p:pic>
        <p:nvPicPr>
          <p:cNvPr id="47" name="build-usd-image" descr="Articulated IKA OVEN 125 USD render with open door from the admitted OVEN r2 sce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43763" y="3338513"/>
            <a:ext cx="1524000" cy="1323975"/>
          </a:xfrm>
          <a:prstGeom prst="rect">
            <a:avLst/>
          </a:prstGeom>
        </p:spPr>
      </p:pic>
      <p:pic>
        <p:nvPicPr>
          <p:cNvPr id="48" name="scene-fehling" descr="Fehling r10 current-delivery Isaac scene with bath and tube ra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72850" y="1333500"/>
            <a:ext cx="3571875" cy="2133600"/>
          </a:xfrm>
          <a:prstGeom prst="rect">
            <a:avLst/>
          </a:prstGeom>
        </p:spPr>
      </p:pic>
      <p:pic>
        <p:nvPicPr>
          <p:cNvPr id="49" name="scene-powder" descr="Powder r4 current-delivery Isaac scene with scoop over bottl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173325" y="1333500"/>
            <a:ext cx="3571875" cy="2133600"/>
          </a:xfrm>
          <a:prstGeom prst="rect">
            <a:avLst/>
          </a:prstGeom>
        </p:spPr>
      </p:pic>
      <p:pic>
        <p:nvPicPr>
          <p:cNvPr id="50" name="scene-titration" descr="Titration r1.7 current-delivery Isaac scene at endpoi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72850" y="3981450"/>
            <a:ext cx="3571875" cy="2133600"/>
          </a:xfrm>
          <a:prstGeom prst="rect">
            <a:avLst/>
          </a:prstGeom>
        </p:spPr>
      </p:pic>
      <p:pic>
        <p:nvPicPr>
          <p:cNvPr id="51" name="scene-oven" descr="OVEN r2 current-delivery Isaac scene with open door and glassw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73325" y="3981450"/>
            <a:ext cx="3571875" cy="2133600"/>
          </a:xfrm>
          <a:prstGeom prst="rect">
            <a:avLst/>
          </a:prstGeom>
        </p:spPr>
      </p:pic>
      <p:sp>
        <p:nvSpPr>
          <p:cNvPr id="52" name="retrieve-to-spec-segment-1"/>
          <p:cNvSpPr/>
          <p:nvPr/>
        </p:nvSpPr>
        <p:spPr>
          <a:xfrm>
            <a:off x="5057775" y="4000500"/>
            <a:ext cx="114300" cy="0"/>
          </a:xfrm>
          <a:prstGeom prst="line">
            <a:avLst/>
          </a:prstGeom>
          <a:noFill/>
          <a:ln w="38100">
            <a:solidFill>
              <a:srgbClr val="3F4855"/>
            </a:solidFill>
            <a:prstDash val="solid"/>
            <a:headEnd type="none"/>
            <a:tailEnd type="triangle"/>
          </a:ln>
        </p:spPr>
      </p:sp>
      <p:sp>
        <p:nvSpPr>
          <p:cNvPr id="53" name="spec-to-build-segment-1"/>
          <p:cNvSpPr/>
          <p:nvPr/>
        </p:nvSpPr>
        <p:spPr>
          <a:xfrm>
            <a:off x="7029450" y="4000500"/>
            <a:ext cx="114300" cy="0"/>
          </a:xfrm>
          <a:prstGeom prst="line">
            <a:avLst/>
          </a:prstGeom>
          <a:noFill/>
          <a:ln w="38100">
            <a:solidFill>
              <a:srgbClr val="3F4855"/>
            </a:solidFill>
            <a:prstDash val="solid"/>
            <a:headEnd type="none"/>
            <a:tailEnd type="triangle"/>
          </a:ln>
        </p:spPr>
      </p:sp>
      <p:sp>
        <p:nvSpPr>
          <p:cNvPr id="54" name="build-to-admit-segment-1"/>
          <p:cNvSpPr/>
          <p:nvPr/>
        </p:nvSpPr>
        <p:spPr>
          <a:xfrm>
            <a:off x="8867775" y="4000500"/>
            <a:ext cx="114300" cy="0"/>
          </a:xfrm>
          <a:prstGeom prst="line">
            <a:avLst/>
          </a:prstGeom>
          <a:noFill/>
          <a:ln w="38100">
            <a:solidFill>
              <a:srgbClr val="3F4855"/>
            </a:solidFill>
            <a:prstDash val="solid"/>
            <a:headEnd type="none"/>
            <a:tailEnd type="triangle"/>
          </a:ln>
        </p:spPr>
      </p:sp>
      <p:sp>
        <p:nvSpPr>
          <p:cNvPr id="55" name="heading-request"/>
          <p:cNvSpPr/>
          <p:nvPr/>
        </p:nvSpPr>
        <p:spPr>
          <a:xfrm>
            <a:off x="304800" y="342900"/>
            <a:ext cx="2381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Request</a:t>
            </a:r>
            <a:endParaRPr lang="en-US" sz="3300" dirty="0"/>
          </a:p>
        </p:txBody>
      </p:sp>
      <p:sp>
        <p:nvSpPr>
          <p:cNvPr id="56" name="heading-agent"/>
          <p:cNvSpPr/>
          <p:nvPr/>
        </p:nvSpPr>
        <p:spPr>
          <a:xfrm>
            <a:off x="3009900" y="3429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Lab2Sim agent</a:t>
            </a:r>
            <a:endParaRPr lang="en-US" sz="3300" dirty="0"/>
          </a:p>
        </p:txBody>
      </p:sp>
      <p:sp>
        <p:nvSpPr>
          <p:cNvPr id="57" name="heading-results"/>
          <p:cNvSpPr/>
          <p:nvPr/>
        </p:nvSpPr>
        <p:spPr>
          <a:xfrm>
            <a:off x="11372850" y="342900"/>
            <a:ext cx="7372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Robot-ready Isaac scenes</a:t>
            </a:r>
            <a:endParaRPr lang="en-US" sz="3300" dirty="0"/>
          </a:p>
        </p:txBody>
      </p:sp>
      <p:sp>
        <p:nvSpPr>
          <p:cNvPr id="58" name="dot-1"/>
          <p:cNvSpPr/>
          <p:nvPr/>
        </p:nvSpPr>
        <p:spPr>
          <a:xfrm>
            <a:off x="3929063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</a:t>
            </a:r>
            <a:endParaRPr lang="en-US" sz="2100" dirty="0"/>
          </a:p>
        </p:txBody>
      </p:sp>
      <p:sp>
        <p:nvSpPr>
          <p:cNvPr id="59" name="dot-2"/>
          <p:cNvSpPr/>
          <p:nvPr/>
        </p:nvSpPr>
        <p:spPr>
          <a:xfrm>
            <a:off x="5910263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</a:t>
            </a:r>
            <a:endParaRPr lang="en-US" sz="2100" dirty="0"/>
          </a:p>
        </p:txBody>
      </p:sp>
      <p:sp>
        <p:nvSpPr>
          <p:cNvPr id="60" name="dot-3"/>
          <p:cNvSpPr/>
          <p:nvPr/>
        </p:nvSpPr>
        <p:spPr>
          <a:xfrm>
            <a:off x="7815263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</a:t>
            </a:r>
            <a:endParaRPr lang="en-US" sz="2100" dirty="0"/>
          </a:p>
        </p:txBody>
      </p:sp>
      <p:sp>
        <p:nvSpPr>
          <p:cNvPr id="61" name="dot-4"/>
          <p:cNvSpPr/>
          <p:nvPr/>
        </p:nvSpPr>
        <p:spPr>
          <a:xfrm>
            <a:off x="9729788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</a:t>
            </a:r>
            <a:endParaRPr lang="en-US" sz="2100" dirty="0"/>
          </a:p>
        </p:txBody>
      </p:sp>
      <p:sp>
        <p:nvSpPr>
          <p:cNvPr id="62" name="stage-title-search"/>
          <p:cNvSpPr/>
          <p:nvPr/>
        </p:nvSpPr>
        <p:spPr>
          <a:xfrm>
            <a:off x="3219450" y="2324100"/>
            <a:ext cx="1800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Search</a:t>
            </a:r>
            <a:endParaRPr lang="en-US" sz="2550" dirty="0"/>
          </a:p>
        </p:txBody>
      </p:sp>
      <p:sp>
        <p:nvSpPr>
          <p:cNvPr id="63" name="stage-title-spec"/>
          <p:cNvSpPr/>
          <p:nvPr/>
        </p:nvSpPr>
        <p:spPr>
          <a:xfrm>
            <a:off x="5210175" y="2324100"/>
            <a:ext cx="17811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Spec</a:t>
            </a:r>
            <a:endParaRPr lang="en-US" sz="2550" dirty="0"/>
          </a:p>
        </p:txBody>
      </p:sp>
      <p:sp>
        <p:nvSpPr>
          <p:cNvPr id="64" name="stage-title-build"/>
          <p:cNvSpPr/>
          <p:nvPr/>
        </p:nvSpPr>
        <p:spPr>
          <a:xfrm>
            <a:off x="7181850" y="2324100"/>
            <a:ext cx="1647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Build</a:t>
            </a:r>
            <a:endParaRPr lang="en-US" sz="2550" dirty="0"/>
          </a:p>
        </p:txBody>
      </p:sp>
      <p:sp>
        <p:nvSpPr>
          <p:cNvPr id="65" name="stage-title-admit"/>
          <p:cNvSpPr/>
          <p:nvPr/>
        </p:nvSpPr>
        <p:spPr>
          <a:xfrm>
            <a:off x="9020175" y="2324100"/>
            <a:ext cx="1800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Admit</a:t>
            </a:r>
            <a:endParaRPr lang="en-US" sz="2550" dirty="0"/>
          </a:p>
        </p:txBody>
      </p:sp>
      <p:sp>
        <p:nvSpPr>
          <p:cNvPr id="66" name="input-modalities"/>
          <p:cNvSpPr/>
          <p:nvPr/>
        </p:nvSpPr>
        <p:spPr>
          <a:xfrm>
            <a:off x="952500" y="1333500"/>
            <a:ext cx="1619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Text</a:t>
            </a:r>
            <a:endParaRPr lang="en-US" sz="2100" dirty="0"/>
          </a:p>
        </p:txBody>
      </p:sp>
      <p:sp>
        <p:nvSpPr>
          <p:cNvPr id="67" name="input-image-label"/>
          <p:cNvSpPr/>
          <p:nvPr/>
        </p:nvSpPr>
        <p:spPr>
          <a:xfrm>
            <a:off x="952500" y="1905000"/>
            <a:ext cx="1619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Image</a:t>
            </a:r>
            <a:endParaRPr lang="en-US" sz="2100" dirty="0"/>
          </a:p>
        </p:txBody>
      </p:sp>
      <p:sp>
        <p:nvSpPr>
          <p:cNvPr id="68" name="input-video-label"/>
          <p:cNvSpPr/>
          <p:nvPr/>
        </p:nvSpPr>
        <p:spPr>
          <a:xfrm>
            <a:off x="952500" y="2476500"/>
            <a:ext cx="1619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Video</a:t>
            </a:r>
            <a:endParaRPr lang="en-US" sz="2100" dirty="0"/>
          </a:p>
        </p:txBody>
      </p:sp>
      <p:sp>
        <p:nvSpPr>
          <p:cNvPr id="69" name="spec-body"/>
          <p:cNvSpPr/>
          <p:nvPr/>
        </p:nvSpPr>
        <p:spPr>
          <a:xfrm>
            <a:off x="5305425" y="3238500"/>
            <a:ext cx="1590675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OVEN 125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DOOR 180°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SHELF ×6</a:t>
            </a:r>
            <a:endParaRPr lang="en-US" sz="2100" dirty="0"/>
          </a:p>
        </p:txBody>
      </p:sp>
      <p:sp>
        <p:nvSpPr>
          <p:cNvPr id="70" name="admit-status"/>
          <p:cNvSpPr/>
          <p:nvPr/>
        </p:nvSpPr>
        <p:spPr>
          <a:xfrm>
            <a:off x="9348788" y="379095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E7C6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PASS</a:t>
            </a:r>
            <a:endParaRPr lang="en-US" sz="2100" dirty="0"/>
          </a:p>
        </p:txBody>
      </p:sp>
      <p:sp>
        <p:nvSpPr>
          <p:cNvPr id="71" name="caption-search"/>
          <p:cNvSpPr/>
          <p:nvPr/>
        </p:nvSpPr>
        <p:spPr>
          <a:xfrm>
            <a:off x="3219450" y="5219700"/>
            <a:ext cx="18002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manufacturer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evidence</a:t>
            </a:r>
            <a:endParaRPr lang="en-US" sz="2100" dirty="0"/>
          </a:p>
        </p:txBody>
      </p:sp>
      <p:sp>
        <p:nvSpPr>
          <p:cNvPr id="72" name="caption-build"/>
          <p:cNvSpPr/>
          <p:nvPr/>
        </p:nvSpPr>
        <p:spPr>
          <a:xfrm>
            <a:off x="7181850" y="5219700"/>
            <a:ext cx="16478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articulated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USD</a:t>
            </a:r>
            <a:endParaRPr lang="en-US" sz="2100" dirty="0"/>
          </a:p>
        </p:txBody>
      </p:sp>
      <p:sp>
        <p:nvSpPr>
          <p:cNvPr id="73" name="caption-admit"/>
          <p:cNvSpPr/>
          <p:nvPr/>
        </p:nvSpPr>
        <p:spPr>
          <a:xfrm>
            <a:off x="9020175" y="5219700"/>
            <a:ext cx="18002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ConvertAsset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· PhysX</a:t>
            </a:r>
            <a:endParaRPr lang="en-US" sz="2100" dirty="0"/>
          </a:p>
        </p:txBody>
      </p:sp>
      <p:sp>
        <p:nvSpPr>
          <p:cNvPr id="74" name="label-fehling"/>
          <p:cNvSpPr/>
          <p:nvPr/>
        </p:nvSpPr>
        <p:spPr>
          <a:xfrm>
            <a:off x="11372850" y="3543300"/>
            <a:ext cx="3571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Fehling</a:t>
            </a:r>
            <a:endParaRPr lang="en-US" sz="2400" dirty="0"/>
          </a:p>
        </p:txBody>
      </p:sp>
      <p:sp>
        <p:nvSpPr>
          <p:cNvPr id="75" name="label-powder"/>
          <p:cNvSpPr/>
          <p:nvPr/>
        </p:nvSpPr>
        <p:spPr>
          <a:xfrm>
            <a:off x="15173325" y="3543300"/>
            <a:ext cx="3571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Powder</a:t>
            </a:r>
            <a:endParaRPr lang="en-US" sz="2400" dirty="0"/>
          </a:p>
        </p:txBody>
      </p:sp>
      <p:sp>
        <p:nvSpPr>
          <p:cNvPr id="76" name="label-titration"/>
          <p:cNvSpPr/>
          <p:nvPr/>
        </p:nvSpPr>
        <p:spPr>
          <a:xfrm>
            <a:off x="11372850" y="6191250"/>
            <a:ext cx="3571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Titration</a:t>
            </a:r>
            <a:endParaRPr lang="en-US" sz="2400" dirty="0"/>
          </a:p>
        </p:txBody>
      </p:sp>
      <p:sp>
        <p:nvSpPr>
          <p:cNvPr id="77" name="label-oven"/>
          <p:cNvSpPr/>
          <p:nvPr/>
        </p:nvSpPr>
        <p:spPr>
          <a:xfrm>
            <a:off x="15173325" y="6191250"/>
            <a:ext cx="3571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033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OVEN 125</a:t>
            </a:r>
            <a:endParaRPr lang="en-US" sz="2400" dirty="0"/>
          </a:p>
        </p:txBody>
      </p:sp>
      <p:sp>
        <p:nvSpPr>
          <p:cNvPr id="78" name="caption-spec"/>
          <p:cNvSpPr/>
          <p:nvPr/>
        </p:nvSpPr>
        <p:spPr>
          <a:xfrm>
            <a:off x="5210175" y="5219700"/>
            <a:ext cx="1781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asset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3F485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spec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jaVu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ejaVu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Lab2Sim editorial story hero</dc:title>
  <dc:subject>Editable projection of a canonical scientific figure specification</dc:subject>
  <dc:creator>build-scientific-figures</dc:creator>
  <cp:lastModifiedBy>build-scientific-figures</cp:lastModifiedBy>
  <cp:revision>1</cp:revision>
  <dcterms:created xsi:type="dcterms:W3CDTF">2026-09-17T13:58:57Z</dcterms:created>
  <dcterms:modified xsi:type="dcterms:W3CDTF">2026-09-17T13:58:57Z</dcterms:modified>
</cp:coreProperties>
</file>