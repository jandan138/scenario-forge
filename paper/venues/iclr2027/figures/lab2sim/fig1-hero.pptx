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9050000" cy="5334000"/>
  <p:notesSz cx="5334000" cy="1905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{"spec":"lab2sim-hero.figure-spec.json","mode":"inspired","canonical":"SVG","provenance":[{"id":"prov-reference-decisions","source":"fig1-reference-audit.md","section":"Reference-led decisions","claim":"Inspired editorial hierarchy and output-gallery allocation","applies_to":["rule-input","rule-agent","rule-results","result-region"],"status":"verified"},{"id":"prov-pipeline","source":"../../../../../docs/design/agent-driven-asset-generation-pipeline.md","section":"Five-stage pipeline","claim":"Evidence retrieval, spec freeze, generation, and ConvertAsset admission","applies_to":["stage-retrieve","stage-spec","stage-build","stage-admit"],"status":"verified"},{"id":"prov-oven-spec","source":"../../../../../docs/design/asset-specs/ika-oven-125.md","section":"Frozen manufacturer fields","claim":"OVEN 125 identity, door articulation, and shelf count","applies_to":["spec-body"],"status":"verified"},{"id":"prov-input-photo","source":"../../../../../external_artifacts/asset_evidence/ika-oven-125/image1.png","section":"Multimodal image request","claim":"Manufacturer photograph of IKA OVEN 125","applies_to":["input-catalog-photo"],"status":"user-provided"},{"id":"prov-fehling-r10","source":"../../../../../outputs/lab2sim_fig1_retake_20260917/fehling_r10/t30_hero_tabletop.png","section":"Figure 1 current-delivery scenes","claim":"Camera-only render of the Fehling r10 retained t30 scene state","applies_to":["scene-fehling"],"status":"verified"},{"id":"prov-powder-r4","source":"../../../../../outputs/task09_powder_bottle_r4_20260911/video/close_0960.png","section":"Figure 1 current-delivery scenes","claim":"Powder r4 observed-state replay with the HUD removed by a documented crop","applies_to":["scene-powder"],"status":"verified"},{"id":"prov-titration-r17","source":"../../../../../outputs/scientific_workbench_traditional_acid_base_titration_vr_r1_7_20260908/handoff/scientific_workbench_traditional_acid_base_titration_vr_r1_7/evidence/initial_scene/after_end_scale_scene_overview.png","section":"Figure 1 current-delivery scenes","claim":"Titration r1.7 endpoint scene overview","applies_to":["scene-titration"],"status":"verified"},{"id":"prov-oven-r2","source":"../../../../../outputs/scientific_workbench_task12_oven_unload_dual_glassware_vr_r2_20260904/handoff/scientific_workbench_task12_oven_unload_dual_glassware_vr_r2/evidence/initial_scene/open_oven_station.png","section":"Figure 1 current-delivery scenes","claim":"OVEN r2 open-door station with dual glassware","applies_to":["scene-oven"],"status":"verified"}],"limitations":"PptxGenJS uses editable native panels, text, and segmented connectors; rounded SVG connector geometry may differ from the canonical SVG."}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put-to-retrieve-segment-1"/>
          <p:cNvSpPr/>
          <p:nvPr/>
        </p:nvSpPr>
        <p:spPr>
          <a:xfrm>
            <a:off x="2476500" y="3048000"/>
            <a:ext cx="238125" cy="0"/>
          </a:xfrm>
          <a:prstGeom prst="line">
            <a:avLst/>
          </a:prstGeom>
          <a:noFill/>
          <a:ln w="38100">
            <a:solidFill>
              <a:srgbClr val="D97706"/>
            </a:solidFill>
            <a:prstDash val="dash"/>
            <a:headEnd type="none"/>
            <a:tailEnd type="triangle"/>
          </a:ln>
        </p:spPr>
      </p:sp>
      <p:sp>
        <p:nvSpPr>
          <p:cNvPr id="3" name="retrieve-to-spec-segment-1"/>
          <p:cNvSpPr/>
          <p:nvPr/>
        </p:nvSpPr>
        <p:spPr>
          <a:xfrm>
            <a:off x="3905250" y="3048000"/>
            <a:ext cx="95250" cy="0"/>
          </a:xfrm>
          <a:prstGeom prst="line">
            <a:avLst/>
          </a:prstGeom>
          <a:noFill/>
          <a:ln w="38100">
            <a:solidFill>
              <a:srgbClr val="2D6AA3"/>
            </a:solidFill>
            <a:prstDash val="solid"/>
            <a:headEnd type="none"/>
            <a:tailEnd type="triangle"/>
          </a:ln>
        </p:spPr>
      </p:sp>
      <p:sp>
        <p:nvSpPr>
          <p:cNvPr id="4" name="spec-to-build-segment-1"/>
          <p:cNvSpPr/>
          <p:nvPr/>
        </p:nvSpPr>
        <p:spPr>
          <a:xfrm>
            <a:off x="5762625" y="3048000"/>
            <a:ext cx="95250" cy="0"/>
          </a:xfrm>
          <a:prstGeom prst="line">
            <a:avLst/>
          </a:prstGeom>
          <a:noFill/>
          <a:ln w="38100">
            <a:solidFill>
              <a:srgbClr val="2D6AA3"/>
            </a:solidFill>
            <a:prstDash val="solid"/>
            <a:headEnd type="none"/>
            <a:tailEnd type="triangle"/>
          </a:ln>
        </p:spPr>
      </p:sp>
      <p:sp>
        <p:nvSpPr>
          <p:cNvPr id="5" name="build-to-admit-segment-1"/>
          <p:cNvSpPr/>
          <p:nvPr/>
        </p:nvSpPr>
        <p:spPr>
          <a:xfrm>
            <a:off x="7000875" y="3048000"/>
            <a:ext cx="95250" cy="0"/>
          </a:xfrm>
          <a:prstGeom prst="line">
            <a:avLst/>
          </a:prstGeom>
          <a:noFill/>
          <a:ln w="38100">
            <a:solidFill>
              <a:srgbClr val="2D6AA3"/>
            </a:solidFill>
            <a:prstDash val="solid"/>
            <a:headEnd type="none"/>
            <a:tailEnd type="triangle"/>
          </a:ln>
        </p:spPr>
      </p:sp>
      <p:sp>
        <p:nvSpPr>
          <p:cNvPr id="6" name="admit-to-results-segment-1"/>
          <p:cNvSpPr/>
          <p:nvPr/>
        </p:nvSpPr>
        <p:spPr>
          <a:xfrm>
            <a:off x="8763000" y="3048000"/>
            <a:ext cx="190500" cy="0"/>
          </a:xfrm>
          <a:prstGeom prst="line">
            <a:avLst/>
          </a:prstGeom>
          <a:noFill/>
          <a:ln w="38100">
            <a:solidFill>
              <a:srgbClr val="0F8B7A"/>
            </a:solidFill>
            <a:prstDash val="solid"/>
            <a:headEnd type="none"/>
            <a:tailEnd type="triangle"/>
          </a:ln>
        </p:spPr>
      </p:sp>
      <p:sp>
        <p:nvSpPr>
          <p:cNvPr id="7" name="rule-input"/>
          <p:cNvSpPr/>
          <p:nvPr/>
        </p:nvSpPr>
        <p:spPr>
          <a:xfrm>
            <a:off x="238125" y="781050"/>
            <a:ext cx="2238375" cy="38100"/>
          </a:xfrm>
          <a:prstGeom prst="roundRect">
            <a:avLst/>
          </a:prstGeom>
          <a:solidFill>
            <a:srgbClr val="5A8FC4"/>
          </a:solidFill>
          <a:ln w="19050">
            <a:solidFill>
              <a:srgbClr val="5A8FC4"/>
            </a:solidFill>
            <a:prstDash val="solid"/>
          </a:ln>
        </p:spPr>
      </p:sp>
      <p:sp>
        <p:nvSpPr>
          <p:cNvPr id="8" name="rule-input-title"/>
          <p:cNvSpPr/>
          <p:nvPr/>
        </p:nvSpPr>
        <p:spPr>
          <a:xfrm>
            <a:off x="409575" y="857250"/>
            <a:ext cx="189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9" name="rule-agent"/>
          <p:cNvSpPr/>
          <p:nvPr/>
        </p:nvSpPr>
        <p:spPr>
          <a:xfrm>
            <a:off x="2857500" y="781050"/>
            <a:ext cx="5857875" cy="38100"/>
          </a:xfrm>
          <a:prstGeom prst="roundRect">
            <a:avLst/>
          </a:prstGeom>
          <a:solidFill>
            <a:srgbClr val="D97706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rule-agent-title"/>
          <p:cNvSpPr/>
          <p:nvPr/>
        </p:nvSpPr>
        <p:spPr>
          <a:xfrm>
            <a:off x="3028950" y="857250"/>
            <a:ext cx="55149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11" name="rule-results"/>
          <p:cNvSpPr/>
          <p:nvPr/>
        </p:nvSpPr>
        <p:spPr>
          <a:xfrm>
            <a:off x="8953500" y="781050"/>
            <a:ext cx="9858375" cy="38100"/>
          </a:xfrm>
          <a:prstGeom prst="roundRect">
            <a:avLst/>
          </a:prstGeom>
          <a:solidFill>
            <a:srgbClr val="0F8B7A"/>
          </a:solidFill>
          <a:ln w="19050">
            <a:solidFill>
              <a:srgbClr val="0F8B7A"/>
            </a:solidFill>
            <a:prstDash val="solid"/>
          </a:ln>
        </p:spPr>
      </p:sp>
      <p:sp>
        <p:nvSpPr>
          <p:cNvPr id="12" name="rule-results-title"/>
          <p:cNvSpPr/>
          <p:nvPr/>
        </p:nvSpPr>
        <p:spPr>
          <a:xfrm>
            <a:off x="9124950" y="857250"/>
            <a:ext cx="951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13" name="input-evidence"/>
          <p:cNvSpPr/>
          <p:nvPr/>
        </p:nvSpPr>
        <p:spPr>
          <a:xfrm>
            <a:off x="238125" y="1066800"/>
            <a:ext cx="2238375" cy="3981450"/>
          </a:xfrm>
          <a:prstGeom prst="roundRect">
            <a:avLst/>
          </a:prstGeom>
          <a:solidFill>
            <a:srgbClr val="EEF5FC"/>
          </a:solidFill>
          <a:ln w="19050">
            <a:solidFill>
              <a:srgbClr val="7FA9D2"/>
            </a:solidFill>
            <a:prstDash val="solid"/>
          </a:ln>
        </p:spPr>
      </p:sp>
      <p:sp>
        <p:nvSpPr>
          <p:cNvPr id="14" name="input-evidence-title"/>
          <p:cNvSpPr/>
          <p:nvPr/>
        </p:nvSpPr>
        <p:spPr>
          <a:xfrm>
            <a:off x="409575" y="1143000"/>
            <a:ext cx="189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15" name="stage-retrieve"/>
          <p:cNvSpPr/>
          <p:nvPr/>
        </p:nvSpPr>
        <p:spPr>
          <a:xfrm>
            <a:off x="2714625" y="1771650"/>
            <a:ext cx="1190625" cy="2038350"/>
          </a:xfrm>
          <a:prstGeom prst="roundRect">
            <a:avLst/>
          </a:prstGeom>
          <a:solidFill>
            <a:srgbClr val="F4F8FC"/>
          </a:solidFill>
          <a:ln w="14288">
            <a:solidFill>
              <a:srgbClr val="B7CAE0"/>
            </a:solidFill>
            <a:prstDash val="solid"/>
          </a:ln>
        </p:spPr>
      </p:sp>
      <p:sp>
        <p:nvSpPr>
          <p:cNvPr id="16" name="stage-retrieve-title"/>
          <p:cNvSpPr/>
          <p:nvPr/>
        </p:nvSpPr>
        <p:spPr>
          <a:xfrm>
            <a:off x="2886075" y="1847850"/>
            <a:ext cx="847725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17" name="stage-spec"/>
          <p:cNvSpPr/>
          <p:nvPr/>
        </p:nvSpPr>
        <p:spPr>
          <a:xfrm>
            <a:off x="4000500" y="1390650"/>
            <a:ext cx="1762125" cy="2705100"/>
          </a:xfrm>
          <a:prstGeom prst="roundRect">
            <a:avLst/>
          </a:prstGeom>
          <a:solidFill>
            <a:srgbClr val="FFF9F0"/>
          </a:solidFill>
          <a:ln w="19050">
            <a:solidFill>
              <a:srgbClr val="D9A45B"/>
            </a:solidFill>
            <a:prstDash val="solid"/>
          </a:ln>
        </p:spPr>
      </p:sp>
      <p:sp>
        <p:nvSpPr>
          <p:cNvPr id="18" name="stage-spec-header"/>
          <p:cNvSpPr/>
          <p:nvPr/>
        </p:nvSpPr>
        <p:spPr>
          <a:xfrm>
            <a:off x="4014788" y="1404938"/>
            <a:ext cx="1733550" cy="481012"/>
          </a:xfrm>
          <a:prstGeom prst="roundRect">
            <a:avLst/>
          </a:prstGeom>
          <a:solidFill>
            <a:srgbClr val="FCE8C8"/>
          </a:solidFill>
          <a:ln w="12700">
            <a:solidFill>
              <a:srgbClr val="FCE8C8">
                <a:alpha val="0"/>
              </a:srgbClr>
            </a:solidFill>
            <a:prstDash val="solid"/>
          </a:ln>
        </p:spPr>
      </p:sp>
      <p:sp>
        <p:nvSpPr>
          <p:cNvPr id="19" name="stage-spec-header-square-base"/>
          <p:cNvSpPr/>
          <p:nvPr/>
        </p:nvSpPr>
        <p:spPr>
          <a:xfrm>
            <a:off x="4014788" y="1578864"/>
            <a:ext cx="1733550" cy="307086"/>
          </a:xfrm>
          <a:prstGeom prst="rect">
            <a:avLst/>
          </a:prstGeom>
          <a:solidFill>
            <a:srgbClr val="FCE8C8"/>
          </a:solidFill>
          <a:ln w="12700">
            <a:solidFill>
              <a:srgbClr val="FCE8C8">
                <a:alpha val="0"/>
              </a:srgbClr>
            </a:solidFill>
            <a:prstDash val="solid"/>
          </a:ln>
        </p:spPr>
      </p:sp>
      <p:sp>
        <p:nvSpPr>
          <p:cNvPr id="20" name="stage-spec-title"/>
          <p:cNvSpPr/>
          <p:nvPr/>
        </p:nvSpPr>
        <p:spPr>
          <a:xfrm>
            <a:off x="4171950" y="1409700"/>
            <a:ext cx="14192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1" name="stage-build"/>
          <p:cNvSpPr/>
          <p:nvPr/>
        </p:nvSpPr>
        <p:spPr>
          <a:xfrm>
            <a:off x="5857875" y="1771650"/>
            <a:ext cx="1143000" cy="2038350"/>
          </a:xfrm>
          <a:prstGeom prst="roundRect">
            <a:avLst/>
          </a:prstGeom>
          <a:solidFill>
            <a:srgbClr val="F4F8FC"/>
          </a:solidFill>
          <a:ln w="14288">
            <a:solidFill>
              <a:srgbClr val="B7CAE0"/>
            </a:solidFill>
            <a:prstDash val="solid"/>
          </a:ln>
        </p:spPr>
      </p:sp>
      <p:sp>
        <p:nvSpPr>
          <p:cNvPr id="22" name="stage-build-title"/>
          <p:cNvSpPr/>
          <p:nvPr/>
        </p:nvSpPr>
        <p:spPr>
          <a:xfrm>
            <a:off x="6029325" y="1847850"/>
            <a:ext cx="8001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3" name="stage-admit"/>
          <p:cNvSpPr/>
          <p:nvPr/>
        </p:nvSpPr>
        <p:spPr>
          <a:xfrm>
            <a:off x="7096125" y="1581150"/>
            <a:ext cx="1619250" cy="2324100"/>
          </a:xfrm>
          <a:prstGeom prst="roundRect">
            <a:avLst/>
          </a:prstGeom>
          <a:solidFill>
            <a:srgbClr val="ECF8F5"/>
          </a:solidFill>
          <a:ln w="19050">
            <a:solidFill>
              <a:srgbClr val="42A28F"/>
            </a:solidFill>
            <a:prstDash val="solid"/>
          </a:ln>
        </p:spPr>
      </p:sp>
      <p:sp>
        <p:nvSpPr>
          <p:cNvPr id="24" name="stage-admit-header"/>
          <p:cNvSpPr/>
          <p:nvPr/>
        </p:nvSpPr>
        <p:spPr>
          <a:xfrm>
            <a:off x="7110413" y="1595438"/>
            <a:ext cx="1590675" cy="481012"/>
          </a:xfrm>
          <a:prstGeom prst="roundRect">
            <a:avLst/>
          </a:prstGeom>
          <a:solidFill>
            <a:srgbClr val="D5F0E9"/>
          </a:solidFill>
          <a:ln w="12700">
            <a:solidFill>
              <a:srgbClr val="D5F0E9">
                <a:alpha val="0"/>
              </a:srgbClr>
            </a:solidFill>
            <a:prstDash val="solid"/>
          </a:ln>
        </p:spPr>
      </p:sp>
      <p:sp>
        <p:nvSpPr>
          <p:cNvPr id="25" name="stage-admit-header-square-base"/>
          <p:cNvSpPr/>
          <p:nvPr/>
        </p:nvSpPr>
        <p:spPr>
          <a:xfrm>
            <a:off x="7110413" y="1769364"/>
            <a:ext cx="1590675" cy="307086"/>
          </a:xfrm>
          <a:prstGeom prst="rect">
            <a:avLst/>
          </a:prstGeom>
          <a:solidFill>
            <a:srgbClr val="D5F0E9"/>
          </a:solidFill>
          <a:ln w="12700">
            <a:solidFill>
              <a:srgbClr val="D5F0E9">
                <a:alpha val="0"/>
              </a:srgbClr>
            </a:solidFill>
            <a:prstDash val="solid"/>
          </a:ln>
        </p:spPr>
      </p:sp>
      <p:sp>
        <p:nvSpPr>
          <p:cNvPr id="26" name="stage-admit-title"/>
          <p:cNvSpPr/>
          <p:nvPr/>
        </p:nvSpPr>
        <p:spPr>
          <a:xfrm>
            <a:off x="7267575" y="1600200"/>
            <a:ext cx="12763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7" name="result-region"/>
          <p:cNvSpPr/>
          <p:nvPr/>
        </p:nvSpPr>
        <p:spPr>
          <a:xfrm>
            <a:off x="8953500" y="990600"/>
            <a:ext cx="9858375" cy="4171950"/>
          </a:xfrm>
          <a:prstGeom prst="roundRect">
            <a:avLst/>
          </a:prstGeom>
          <a:solidFill>
            <a:srgbClr val="FAFBFD"/>
          </a:solidFill>
          <a:ln w="19050">
            <a:solidFill>
              <a:srgbClr val="FAFBFD"/>
            </a:solidFill>
            <a:prstDash val="solid"/>
          </a:ln>
        </p:spPr>
      </p:sp>
      <p:sp>
        <p:nvSpPr>
          <p:cNvPr id="28" name="result-region-title"/>
          <p:cNvSpPr/>
          <p:nvPr/>
        </p:nvSpPr>
        <p:spPr>
          <a:xfrm>
            <a:off x="9124950" y="1066800"/>
            <a:ext cx="951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29" name="result-fehling"/>
          <p:cNvSpPr/>
          <p:nvPr/>
        </p:nvSpPr>
        <p:spPr>
          <a:xfrm>
            <a:off x="9144000" y="1714500"/>
            <a:ext cx="2238375" cy="2381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CFC5"/>
            </a:solidFill>
            <a:prstDash val="solid"/>
          </a:ln>
        </p:spPr>
      </p:sp>
      <p:sp>
        <p:nvSpPr>
          <p:cNvPr id="30" name="result-fehling-title"/>
          <p:cNvSpPr/>
          <p:nvPr/>
        </p:nvSpPr>
        <p:spPr>
          <a:xfrm>
            <a:off x="9315450" y="1790700"/>
            <a:ext cx="189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1" name="result-powder"/>
          <p:cNvSpPr/>
          <p:nvPr/>
        </p:nvSpPr>
        <p:spPr>
          <a:xfrm>
            <a:off x="11525250" y="1714500"/>
            <a:ext cx="2238375" cy="2381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CFC5"/>
            </a:solidFill>
            <a:prstDash val="solid"/>
          </a:ln>
        </p:spPr>
      </p:sp>
      <p:sp>
        <p:nvSpPr>
          <p:cNvPr id="32" name="result-powder-title"/>
          <p:cNvSpPr/>
          <p:nvPr/>
        </p:nvSpPr>
        <p:spPr>
          <a:xfrm>
            <a:off x="11696700" y="1790700"/>
            <a:ext cx="189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3" name="result-titration"/>
          <p:cNvSpPr/>
          <p:nvPr/>
        </p:nvSpPr>
        <p:spPr>
          <a:xfrm>
            <a:off x="13906500" y="1714500"/>
            <a:ext cx="2238375" cy="2381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CFC5"/>
            </a:solidFill>
            <a:prstDash val="solid"/>
          </a:ln>
        </p:spPr>
      </p:sp>
      <p:sp>
        <p:nvSpPr>
          <p:cNvPr id="34" name="result-titration-title"/>
          <p:cNvSpPr/>
          <p:nvPr/>
        </p:nvSpPr>
        <p:spPr>
          <a:xfrm>
            <a:off x="14077950" y="1790700"/>
            <a:ext cx="189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5" name="result-oven"/>
          <p:cNvSpPr/>
          <p:nvPr/>
        </p:nvSpPr>
        <p:spPr>
          <a:xfrm>
            <a:off x="16287750" y="1714500"/>
            <a:ext cx="2238375" cy="2381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CFC5"/>
            </a:solidFill>
            <a:prstDash val="solid"/>
          </a:ln>
        </p:spPr>
      </p:sp>
      <p:sp>
        <p:nvSpPr>
          <p:cNvPr id="36" name="result-oven-title"/>
          <p:cNvSpPr/>
          <p:nvPr/>
        </p:nvSpPr>
        <p:spPr>
          <a:xfrm>
            <a:off x="16459200" y="1790700"/>
            <a:ext cx="18954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pic>
        <p:nvPicPr>
          <p:cNvPr id="37" name="input-catalog-photo" descr="IKA OVEN 125 manufacturer catalog image used as an image requ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75" y="2343150"/>
            <a:ext cx="1895475" cy="1790700"/>
          </a:xfrm>
          <a:prstGeom prst="rect">
            <a:avLst/>
          </a:prstGeom>
        </p:spPr>
      </p:pic>
      <p:pic>
        <p:nvPicPr>
          <p:cNvPr id="38" name="input-video-icon" descr="Wet-lab demonstration video symbo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9575" y="4495800"/>
            <a:ext cx="476250" cy="476250"/>
          </a:xfrm>
          <a:prstGeom prst="rect">
            <a:avLst/>
          </a:prstGeom>
        </p:spPr>
      </p:pic>
      <p:pic>
        <p:nvPicPr>
          <p:cNvPr id="39" name="retrieve-icon" descr="Manufacturer evidence retrieval symbol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6575" y="2381250"/>
            <a:ext cx="514350" cy="514350"/>
          </a:xfrm>
          <a:prstGeom prst="rect">
            <a:avLst/>
          </a:prstGeom>
        </p:spPr>
      </p:pic>
      <p:pic>
        <p:nvPicPr>
          <p:cNvPr id="40" name="build-icon" descr="Blender-to-USD generation symbol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48400" y="2362200"/>
            <a:ext cx="514350" cy="419100"/>
          </a:xfrm>
          <a:prstGeom prst="rect">
            <a:avLst/>
          </a:prstGeom>
        </p:spPr>
      </p:pic>
      <p:pic>
        <p:nvPicPr>
          <p:cNvPr id="41" name="scene-fehling" descr="Fehling r10 current-delivery Isaac scene with bath and tube ra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1714500"/>
            <a:ext cx="2238375" cy="1809750"/>
          </a:xfrm>
          <a:prstGeom prst="rect">
            <a:avLst/>
          </a:prstGeom>
        </p:spPr>
      </p:pic>
      <p:pic>
        <p:nvPicPr>
          <p:cNvPr id="42" name="scene-powder" descr="Powder r4 current-delivery Isaac scene with scoop over bott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5250" y="1714500"/>
            <a:ext cx="2238375" cy="1809750"/>
          </a:xfrm>
          <a:prstGeom prst="rect">
            <a:avLst/>
          </a:prstGeom>
        </p:spPr>
      </p:pic>
      <p:pic>
        <p:nvPicPr>
          <p:cNvPr id="43" name="scene-titration" descr="Titration r1.7 current-delivery Isaac scene at endpoin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06500" y="1714500"/>
            <a:ext cx="2238375" cy="1809750"/>
          </a:xfrm>
          <a:prstGeom prst="rect">
            <a:avLst/>
          </a:prstGeom>
        </p:spPr>
      </p:pic>
      <p:pic>
        <p:nvPicPr>
          <p:cNvPr id="44" name="scene-oven" descr="OVEN r2 current-delivery Isaac scene with open door and glassw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87750" y="1714500"/>
            <a:ext cx="2238375" cy="1809750"/>
          </a:xfrm>
          <a:prstGeom prst="rect">
            <a:avLst/>
          </a:prstGeom>
        </p:spPr>
      </p:pic>
      <p:sp>
        <p:nvSpPr>
          <p:cNvPr id="45" name="heading-input"/>
          <p:cNvSpPr/>
          <p:nvPr/>
        </p:nvSpPr>
        <p:spPr>
          <a:xfrm>
            <a:off x="238125" y="228600"/>
            <a:ext cx="2238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INPUT</a:t>
            </a:r>
            <a:endParaRPr lang="en-US" sz="2700" dirty="0"/>
          </a:p>
        </p:txBody>
      </p:sp>
      <p:sp>
        <p:nvSpPr>
          <p:cNvPr id="46" name="heading-agent"/>
          <p:cNvSpPr/>
          <p:nvPr/>
        </p:nvSpPr>
        <p:spPr>
          <a:xfrm>
            <a:off x="2857500" y="228600"/>
            <a:ext cx="58578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LAB2SIM AGENT</a:t>
            </a:r>
            <a:endParaRPr lang="en-US" sz="2700" dirty="0"/>
          </a:p>
        </p:txBody>
      </p:sp>
      <p:sp>
        <p:nvSpPr>
          <p:cNvPr id="47" name="heading-results"/>
          <p:cNvSpPr/>
          <p:nvPr/>
        </p:nvSpPr>
        <p:spPr>
          <a:xfrm>
            <a:off x="8953500" y="228600"/>
            <a:ext cx="9858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ROBOT-READY ISAAC SCENES</a:t>
            </a:r>
            <a:endParaRPr lang="en-US" sz="2700" dirty="0"/>
          </a:p>
        </p:txBody>
      </p:sp>
      <p:sp>
        <p:nvSpPr>
          <p:cNvPr id="48" name="stage-title-search"/>
          <p:cNvSpPr/>
          <p:nvPr/>
        </p:nvSpPr>
        <p:spPr>
          <a:xfrm>
            <a:off x="2714625" y="1885950"/>
            <a:ext cx="1190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Search</a:t>
            </a:r>
            <a:endParaRPr lang="en-US" sz="2700" dirty="0"/>
          </a:p>
        </p:txBody>
      </p:sp>
      <p:sp>
        <p:nvSpPr>
          <p:cNvPr id="49" name="stage-title-spec"/>
          <p:cNvSpPr/>
          <p:nvPr/>
        </p:nvSpPr>
        <p:spPr>
          <a:xfrm>
            <a:off x="4000500" y="1466850"/>
            <a:ext cx="17621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Spec</a:t>
            </a:r>
            <a:endParaRPr lang="en-US" sz="3000" dirty="0"/>
          </a:p>
        </p:txBody>
      </p:sp>
      <p:sp>
        <p:nvSpPr>
          <p:cNvPr id="50" name="stage-title-build"/>
          <p:cNvSpPr/>
          <p:nvPr/>
        </p:nvSpPr>
        <p:spPr>
          <a:xfrm>
            <a:off x="5857875" y="1885950"/>
            <a:ext cx="114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Build</a:t>
            </a:r>
            <a:endParaRPr lang="en-US" sz="3000" dirty="0"/>
          </a:p>
        </p:txBody>
      </p:sp>
      <p:sp>
        <p:nvSpPr>
          <p:cNvPr id="51" name="stage-title-admit"/>
          <p:cNvSpPr/>
          <p:nvPr/>
        </p:nvSpPr>
        <p:spPr>
          <a:xfrm>
            <a:off x="7096125" y="16573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Admit</a:t>
            </a:r>
            <a:endParaRPr lang="en-US" sz="3000" dirty="0"/>
          </a:p>
        </p:txBody>
      </p:sp>
      <p:sp>
        <p:nvSpPr>
          <p:cNvPr id="52" name="input-modalities"/>
          <p:cNvSpPr/>
          <p:nvPr/>
        </p:nvSpPr>
        <p:spPr>
          <a:xfrm>
            <a:off x="409575" y="1257300"/>
            <a:ext cx="1895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D6AA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TEXT</a:t>
            </a:r>
            <a:endParaRPr lang="en-US" sz="3000" dirty="0"/>
          </a:p>
        </p:txBody>
      </p:sp>
      <p:sp>
        <p:nvSpPr>
          <p:cNvPr id="53" name="input-image-label"/>
          <p:cNvSpPr/>
          <p:nvPr/>
        </p:nvSpPr>
        <p:spPr>
          <a:xfrm>
            <a:off x="409575" y="1809750"/>
            <a:ext cx="1895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D6AA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IMAGE</a:t>
            </a:r>
            <a:endParaRPr lang="en-US" sz="3000" dirty="0"/>
          </a:p>
        </p:txBody>
      </p:sp>
      <p:sp>
        <p:nvSpPr>
          <p:cNvPr id="54" name="input-video-label"/>
          <p:cNvSpPr/>
          <p:nvPr/>
        </p:nvSpPr>
        <p:spPr>
          <a:xfrm>
            <a:off x="1000125" y="4552950"/>
            <a:ext cx="147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66708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VIDEO</a:t>
            </a:r>
            <a:endParaRPr lang="en-US" sz="3000" dirty="0"/>
          </a:p>
        </p:txBody>
      </p:sp>
      <p:sp>
        <p:nvSpPr>
          <p:cNvPr id="55" name="retrieve-body"/>
          <p:cNvSpPr/>
          <p:nvPr/>
        </p:nvSpPr>
        <p:spPr>
          <a:xfrm>
            <a:off x="2809875" y="2914650"/>
            <a:ext cx="100012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66708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WEB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66708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DOCS</a:t>
            </a:r>
            <a:endParaRPr lang="en-US" sz="3000" dirty="0"/>
          </a:p>
        </p:txBody>
      </p:sp>
      <p:sp>
        <p:nvSpPr>
          <p:cNvPr id="56" name="spec-body"/>
          <p:cNvSpPr/>
          <p:nvPr/>
        </p:nvSpPr>
        <p:spPr>
          <a:xfrm>
            <a:off x="4152900" y="2171700"/>
            <a:ext cx="1457325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7A4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OVEN125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>
                <a:solidFill>
                  <a:srgbClr val="7A4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DOOR180°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>
                <a:solidFill>
                  <a:srgbClr val="7A4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SHELF×6</a:t>
            </a:r>
            <a:endParaRPr lang="en-US" sz="2550" dirty="0"/>
          </a:p>
        </p:txBody>
      </p:sp>
      <p:sp>
        <p:nvSpPr>
          <p:cNvPr id="57" name="build-body"/>
          <p:cNvSpPr/>
          <p:nvPr/>
        </p:nvSpPr>
        <p:spPr>
          <a:xfrm>
            <a:off x="5953125" y="2895600"/>
            <a:ext cx="952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USD</a:t>
            </a:r>
            <a:endParaRPr lang="en-US" sz="3000" dirty="0"/>
          </a:p>
        </p:txBody>
      </p:sp>
      <p:sp>
        <p:nvSpPr>
          <p:cNvPr id="58" name="admit-body"/>
          <p:cNvSpPr/>
          <p:nvPr/>
        </p:nvSpPr>
        <p:spPr>
          <a:xfrm>
            <a:off x="7191375" y="217170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50" dirty="0">
                <a:solidFill>
                  <a:srgbClr val="3866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Convert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dirty="0">
                <a:solidFill>
                  <a:srgbClr val="3866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Asset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dirty="0">
                <a:solidFill>
                  <a:srgbClr val="3866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PhysX</a:t>
            </a:r>
            <a:endParaRPr lang="en-US" sz="2550" dirty="0"/>
          </a:p>
        </p:txBody>
      </p:sp>
      <p:sp>
        <p:nvSpPr>
          <p:cNvPr id="59" name="admit-status"/>
          <p:cNvSpPr/>
          <p:nvPr/>
        </p:nvSpPr>
        <p:spPr>
          <a:xfrm>
            <a:off x="7191375" y="3524250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8B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PASS</a:t>
            </a:r>
            <a:endParaRPr lang="en-US" sz="3000" dirty="0"/>
          </a:p>
        </p:txBody>
      </p:sp>
      <p:sp>
        <p:nvSpPr>
          <p:cNvPr id="60" name="label-fehling"/>
          <p:cNvSpPr/>
          <p:nvPr/>
        </p:nvSpPr>
        <p:spPr>
          <a:xfrm>
            <a:off x="9277350" y="3714750"/>
            <a:ext cx="19716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Fehling</a:t>
            </a:r>
            <a:endParaRPr lang="en-US" sz="3000" dirty="0"/>
          </a:p>
        </p:txBody>
      </p:sp>
      <p:sp>
        <p:nvSpPr>
          <p:cNvPr id="61" name="label-powder"/>
          <p:cNvSpPr/>
          <p:nvPr/>
        </p:nvSpPr>
        <p:spPr>
          <a:xfrm>
            <a:off x="11658600" y="3714750"/>
            <a:ext cx="19716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Powder</a:t>
            </a:r>
            <a:endParaRPr lang="en-US" sz="3000" dirty="0"/>
          </a:p>
        </p:txBody>
      </p:sp>
      <p:sp>
        <p:nvSpPr>
          <p:cNvPr id="62" name="label-titration"/>
          <p:cNvSpPr/>
          <p:nvPr/>
        </p:nvSpPr>
        <p:spPr>
          <a:xfrm>
            <a:off x="14039850" y="3714750"/>
            <a:ext cx="19716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Titration</a:t>
            </a:r>
            <a:endParaRPr lang="en-US" sz="3000" dirty="0"/>
          </a:p>
        </p:txBody>
      </p:sp>
      <p:sp>
        <p:nvSpPr>
          <p:cNvPr id="63" name="label-oven"/>
          <p:cNvSpPr/>
          <p:nvPr/>
        </p:nvSpPr>
        <p:spPr>
          <a:xfrm>
            <a:off x="16421100" y="3714750"/>
            <a:ext cx="19716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OVEN 125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Lab2Sim editorial story hero</dc:title>
  <dc:subject>Editable projection of a canonical scientific figure specification</dc:subject>
  <dc:creator>build-scientific-figures</dc:creator>
  <cp:lastModifiedBy>build-scientific-figures</cp:lastModifiedBy>
  <cp:revision>1</cp:revision>
  <dcterms:created xsi:type="dcterms:W3CDTF">2026-09-17T08:41:50Z</dcterms:created>
  <dcterms:modified xsi:type="dcterms:W3CDTF">2026-09-17T08:41:50Z</dcterms:modified>
</cp:coreProperties>
</file>